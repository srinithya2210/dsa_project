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3"/>
  </p:notesMasterIdLst>
  <p:handoutMasterIdLst>
    <p:handoutMasterId r:id="rId24"/>
  </p:handoutMasterIdLst>
  <p:sldIdLst>
    <p:sldId id="314" r:id="rId3"/>
    <p:sldId id="322" r:id="rId4"/>
    <p:sldId id="323" r:id="rId5"/>
    <p:sldId id="266" r:id="rId6"/>
    <p:sldId id="341" r:id="rId7"/>
    <p:sldId id="342" r:id="rId8"/>
    <p:sldId id="343" r:id="rId9"/>
    <p:sldId id="349" r:id="rId10"/>
    <p:sldId id="344" r:id="rId11"/>
    <p:sldId id="345" r:id="rId12"/>
    <p:sldId id="350" r:id="rId13"/>
    <p:sldId id="351" r:id="rId14"/>
    <p:sldId id="352" r:id="rId15"/>
    <p:sldId id="353" r:id="rId16"/>
    <p:sldId id="346" r:id="rId17"/>
    <p:sldId id="340" r:id="rId18"/>
    <p:sldId id="354" r:id="rId19"/>
    <p:sldId id="347" r:id="rId20"/>
    <p:sldId id="348" r:id="rId21"/>
    <p:sldId id="33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84" autoAdjust="0"/>
    <p:restoredTop sz="95833"/>
  </p:normalViewPr>
  <p:slideViewPr>
    <p:cSldViewPr snapToGrid="0" snapToObjects="1">
      <p:cViewPr>
        <p:scale>
          <a:sx n="75" d="100"/>
          <a:sy n="75" d="100"/>
        </p:scale>
        <p:origin x="-1042" y="-341"/>
      </p:cViewPr>
      <p:guideLst>
        <p:guide orient="horz" pos="2160"/>
        <p:guide pos="3840"/>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xmlns=""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xmlns=""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xmlns=""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xmlns=""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xmlns=""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xmlns=""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xmlns=""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xmlns=""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xmlns=""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xmlns=""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xmlns=""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xmlns=""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xmlns=""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xmlns=""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xmlns=""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xmlns=""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xmlns=""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xmlns=""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xmlns=""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xmlns=""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xmlns=""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xmlns=""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xmlns=""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xmlns=""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xmlns=""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xmlns=""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xmlns=""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xmlns=""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xmlns=""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xmlns=""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xmlns=""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xmlns=""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xmlns=""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xmlns=""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xmlns=""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smtClean="0">
                <a:solidFill>
                  <a:srgbClr val="0070C0"/>
                </a:solidFill>
                <a:latin typeface="+mn-lt"/>
                <a:cs typeface="Arial" panose="020B0604020202020204" pitchFamily="34" charset="0"/>
              </a:rPr>
              <a:t>UNMUTE: A WEEKLY REFLECTION APPLICATION</a:t>
            </a:r>
            <a:endParaRPr lang="en-US" sz="2400" dirty="0">
              <a:solidFill>
                <a:srgbClr val="FF0000"/>
              </a:solidFill>
              <a:latin typeface="+mn-lt"/>
              <a:cs typeface="Arial" panose="020B0604020202020204" pitchFamily="34" charset="0"/>
            </a:endParaRPr>
          </a:p>
        </p:txBody>
      </p:sp>
      <p:sp>
        <p:nvSpPr>
          <p:cNvPr id="3" name="Content Placeholder 2">
            <a:extLst>
              <a:ext uri="{FF2B5EF4-FFF2-40B4-BE49-F238E27FC236}">
                <a16:creationId xmlns:a16="http://schemas.microsoft.com/office/drawing/2014/main" xmlns=""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t>Student Name: </a:t>
            </a:r>
            <a:r>
              <a:rPr lang="en-US" sz="9600" dirty="0" smtClean="0"/>
              <a:t>M SRI NITHYA</a:t>
            </a:r>
            <a:endParaRPr lang="en-US" sz="9600" dirty="0"/>
          </a:p>
          <a:p>
            <a:pPr marL="0" indent="0" algn="ctr">
              <a:buNone/>
            </a:pPr>
            <a:r>
              <a:rPr lang="en-US" sz="9600" dirty="0"/>
              <a:t>Student ID: </a:t>
            </a:r>
            <a:r>
              <a:rPr lang="en-US" sz="9600" dirty="0" smtClean="0"/>
              <a:t>2320030447</a:t>
            </a:r>
            <a:r>
              <a:rPr lang="en-US" sz="2400" dirty="0" smtClean="0"/>
              <a:t>)</a:t>
            </a:r>
            <a:endParaRPr lang="en-US" sz="2400" dirty="0"/>
          </a:p>
          <a:p>
            <a:pPr marL="0" indent="0" algn="ctr">
              <a:buNone/>
            </a:pPr>
            <a:r>
              <a:rPr lang="en-US" sz="11200" dirty="0" smtClean="0"/>
              <a:t>Cluster:04</a:t>
            </a:r>
            <a:endParaRPr lang="en-US" sz="11200" dirty="0"/>
          </a:p>
          <a:p>
            <a:pPr marL="0" indent="0" algn="ctr">
              <a:buNone/>
            </a:pPr>
            <a:r>
              <a:rPr lang="en-US" sz="11200" dirty="0"/>
              <a:t>Section: </a:t>
            </a:r>
            <a:r>
              <a:rPr lang="en-US" sz="11200" dirty="0" smtClean="0"/>
              <a:t>15</a:t>
            </a:r>
            <a:endParaRPr lang="en-US" sz="11200" dirty="0"/>
          </a:p>
        </p:txBody>
      </p:sp>
      <p:sp>
        <p:nvSpPr>
          <p:cNvPr id="6" name="Date Placeholder 5">
            <a:extLst>
              <a:ext uri="{FF2B5EF4-FFF2-40B4-BE49-F238E27FC236}">
                <a16:creationId xmlns:a16="http://schemas.microsoft.com/office/drawing/2014/main" xmlns=""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10;&#10;Description automatically generated">
            <a:extLst>
              <a:ext uri="{FF2B5EF4-FFF2-40B4-BE49-F238E27FC236}">
                <a16:creationId xmlns:a16="http://schemas.microsoft.com/office/drawing/2014/main" xmlns="" id="{22EBCDF0-8C0C-C908-85EA-FD8A72825B21}"/>
              </a:ext>
            </a:extLst>
          </p:cNvPr>
          <p:cNvPicPr>
            <a:picLocks noChangeAspect="1"/>
          </p:cNvPicPr>
          <p:nvPr/>
        </p:nvPicPr>
        <p:blipFill>
          <a:blip r:embed="rId2"/>
          <a:stretch>
            <a:fillRect/>
          </a:stretch>
        </p:blipFill>
        <p:spPr>
          <a:xfrm>
            <a:off x="5575079" y="5244518"/>
            <a:ext cx="1725712" cy="930978"/>
          </a:xfrm>
          <a:prstGeom prst="rect">
            <a:avLst/>
          </a:prstGeom>
        </p:spPr>
      </p:pic>
      <p:sp>
        <p:nvSpPr>
          <p:cNvPr id="13" name="Content Placeholder 3">
            <a:extLst>
              <a:ext uri="{FF2B5EF4-FFF2-40B4-BE49-F238E27FC236}">
                <a16:creationId xmlns:a16="http://schemas.microsoft.com/office/drawing/2014/main" xmlns=""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t>Under the Guidance </a:t>
            </a:r>
          </a:p>
          <a:p>
            <a:pPr marL="0" indent="0" algn="ctr">
              <a:buNone/>
            </a:pPr>
            <a:r>
              <a:rPr lang="en-US" sz="8600" dirty="0"/>
              <a:t>of </a:t>
            </a:r>
            <a:endParaRPr lang="en-US" sz="8600" dirty="0">
              <a:solidFill>
                <a:srgbClr val="00B050"/>
              </a:solidFill>
            </a:endParaRPr>
          </a:p>
          <a:p>
            <a:pPr marL="0" indent="0" algn="ctr">
              <a:buNone/>
            </a:pPr>
            <a:r>
              <a:rPr lang="en-US" sz="8600" dirty="0">
                <a:solidFill>
                  <a:srgbClr val="00B050"/>
                </a:solidFill>
              </a:rPr>
              <a:t>Supervisor </a:t>
            </a:r>
            <a:r>
              <a:rPr lang="en-US" sz="8600" dirty="0" smtClean="0">
                <a:solidFill>
                  <a:srgbClr val="00B050"/>
                </a:solidFill>
              </a:rPr>
              <a:t>Name: </a:t>
            </a:r>
            <a:r>
              <a:rPr lang="en-US" sz="8600" dirty="0" err="1" smtClean="0">
                <a:solidFill>
                  <a:srgbClr val="00B050"/>
                </a:solidFill>
              </a:rPr>
              <a:t>Madhavi</a:t>
            </a:r>
            <a:r>
              <a:rPr lang="en-US" sz="8600" dirty="0" smtClean="0">
                <a:solidFill>
                  <a:srgbClr val="00B050"/>
                </a:solidFill>
              </a:rPr>
              <a:t> Ma’am</a:t>
            </a:r>
            <a:endParaRPr lang="en-US" sz="8600" dirty="0">
              <a:solidFill>
                <a:srgbClr val="00B050"/>
              </a:solidFill>
            </a:endParaRPr>
          </a:p>
          <a:p>
            <a:pPr marL="0" indent="0" algn="ctr">
              <a:buNone/>
            </a:pPr>
            <a:r>
              <a:rPr lang="en-US" sz="8600" dirty="0">
                <a:solidFill>
                  <a:srgbClr val="00B050"/>
                </a:solidFill>
              </a:rPr>
              <a:t>Assistant Professor</a:t>
            </a:r>
          </a:p>
          <a:p>
            <a:pPr marL="0" indent="0" algn="ctr">
              <a:buNone/>
            </a:pPr>
            <a:r>
              <a:rPr lang="en-US" sz="8600" dirty="0">
                <a:solidFill>
                  <a:srgbClr val="00B050"/>
                </a:solidFill>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xmlns="" id="{8A4C03D2-3952-BF4D-18CA-C2C8547E2A2A}"/>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101701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D45DB3B1-7702-A34D-B15A-E964B95D6FB5}"/>
              </a:ext>
            </a:extLst>
          </p:cNvPr>
          <p:cNvSpPr>
            <a:spLocks noGrp="1"/>
          </p:cNvSpPr>
          <p:nvPr>
            <p:ph type="title"/>
          </p:nvPr>
        </p:nvSpPr>
        <p:spPr>
          <a:xfrm>
            <a:off x="1180618" y="365125"/>
            <a:ext cx="10173182" cy="1128009"/>
          </a:xfrm>
        </p:spPr>
        <p:txBody>
          <a:bodyPr/>
          <a:lstStyle/>
          <a:p>
            <a:pPr algn="ctr"/>
            <a:r>
              <a:rPr lang="en-US" b="1" dirty="0"/>
              <a:t>OUTLINE</a:t>
            </a:r>
          </a:p>
        </p:txBody>
      </p:sp>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t>Abstract</a:t>
            </a:r>
          </a:p>
          <a:p>
            <a:pPr marL="514350" indent="-514350">
              <a:buFont typeface="+mj-lt"/>
              <a:buAutoNum type="arabicPeriod"/>
            </a:pPr>
            <a:r>
              <a:rPr lang="en-IN" dirty="0"/>
              <a:t>Existing System </a:t>
            </a:r>
          </a:p>
          <a:p>
            <a:pPr marL="514350" indent="-514350">
              <a:buFont typeface="+mj-lt"/>
              <a:buAutoNum type="arabicPeriod"/>
            </a:pPr>
            <a:r>
              <a:rPr lang="en-IN" dirty="0"/>
              <a:t>Proposed System</a:t>
            </a:r>
          </a:p>
          <a:p>
            <a:pPr marL="514350" indent="-514350">
              <a:buFont typeface="+mj-lt"/>
              <a:buAutoNum type="arabicPeriod"/>
            </a:pPr>
            <a:r>
              <a:rPr lang="en-IN" dirty="0"/>
              <a:t>System Architecture</a:t>
            </a:r>
          </a:p>
          <a:p>
            <a:pPr marL="514350" indent="-514350">
              <a:buFont typeface="+mj-lt"/>
              <a:buAutoNum type="arabicPeriod"/>
            </a:pPr>
            <a:r>
              <a:rPr lang="en-IN" dirty="0"/>
              <a:t>Project Modules</a:t>
            </a:r>
          </a:p>
          <a:p>
            <a:pPr marL="514350" indent="-514350">
              <a:buFont typeface="+mj-lt"/>
              <a:buAutoNum type="arabicPeriod"/>
            </a:pPr>
            <a:r>
              <a:rPr lang="en-IN" dirty="0"/>
              <a:t>Objectives </a:t>
            </a:r>
          </a:p>
          <a:p>
            <a:pPr marL="514350" indent="-514350">
              <a:buFont typeface="+mj-lt"/>
              <a:buAutoNum type="arabicPeriod"/>
            </a:pPr>
            <a:r>
              <a:rPr lang="en-IN" dirty="0"/>
              <a:t>Co’s Attainments - FWD</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Co’s Attainments - DSA</a:t>
            </a:r>
          </a:p>
          <a:p>
            <a:pPr marL="971550" lvl="1" indent="-514350">
              <a:buFont typeface="+mj-lt"/>
              <a:buAutoNum type="arabicPeriod"/>
            </a:pPr>
            <a:r>
              <a:rPr lang="en-IN" dirty="0"/>
              <a:t>Co1</a:t>
            </a:r>
          </a:p>
          <a:p>
            <a:pPr marL="971550" lvl="1" indent="-514350">
              <a:buFont typeface="+mj-lt"/>
              <a:buAutoNum type="arabicPeriod"/>
            </a:pPr>
            <a:r>
              <a:rPr lang="en-IN" dirty="0"/>
              <a:t>Co2 …….. 5. Co5</a:t>
            </a:r>
          </a:p>
          <a:p>
            <a:pPr marL="514350" indent="-514350">
              <a:buFont typeface="+mj-lt"/>
              <a:buAutoNum type="arabicPeriod"/>
            </a:pPr>
            <a:r>
              <a:rPr lang="en-IN" dirty="0"/>
              <a:t>Screen Shots for FWD &amp; DSA</a:t>
            </a:r>
          </a:p>
          <a:p>
            <a:pPr marL="514350" indent="-514350">
              <a:buFont typeface="+mj-lt"/>
              <a:buAutoNum type="arabicPeriod"/>
            </a:pPr>
            <a:r>
              <a:rPr lang="en-IN" dirty="0"/>
              <a:t>Conclusion</a:t>
            </a:r>
          </a:p>
          <a:p>
            <a:pPr marL="514350" indent="-514350">
              <a:buFont typeface="+mj-lt"/>
              <a:buAutoNum type="arabicPeriod"/>
            </a:pPr>
            <a:r>
              <a:rPr lang="en-IN" dirty="0"/>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xmlns=""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326239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D45DB3B1-7702-A34D-B15A-E964B95D6FB5}"/>
              </a:ext>
            </a:extLst>
          </p:cNvPr>
          <p:cNvSpPr>
            <a:spLocks noGrp="1"/>
          </p:cNvSpPr>
          <p:nvPr>
            <p:ph type="title"/>
          </p:nvPr>
        </p:nvSpPr>
        <p:spPr>
          <a:xfrm>
            <a:off x="1180618" y="365125"/>
            <a:ext cx="10173182" cy="1128009"/>
          </a:xfrm>
        </p:spPr>
        <p:txBody>
          <a:bodyPr/>
          <a:lstStyle/>
          <a:p>
            <a:pPr algn="ctr"/>
            <a:r>
              <a:rPr lang="en-US" b="1" dirty="0"/>
              <a:t>Abstract</a:t>
            </a:r>
          </a:p>
        </p:txBody>
      </p:sp>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p:txBody>
          <a:bodyPr>
            <a:normAutofit/>
          </a:bodyPr>
          <a:lstStyle/>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Unmute </a:t>
            </a:r>
            <a:r>
              <a:rPr lang="en-US" sz="2200" dirty="0" smtClean="0">
                <a:latin typeface="Times New Roman" panose="02020603050405020304" pitchFamily="18" charset="0"/>
                <a:cs typeface="Times New Roman" panose="02020603050405020304" pitchFamily="18" charset="0"/>
              </a:rPr>
              <a:t>is </a:t>
            </a:r>
            <a:r>
              <a:rPr lang="en-US" sz="2200" dirty="0">
                <a:latin typeface="Times New Roman" panose="02020603050405020304" pitchFamily="18" charset="0"/>
                <a:cs typeface="Times New Roman" panose="02020603050405020304" pitchFamily="18" charset="0"/>
              </a:rPr>
              <a:t>a console-based Java application designed to provide users with a private digital space to express their thoughts and emotions. The system allows users to record weekly reflections (rituals) and vent messages, helping them track their moods and experiences over time.</a:t>
            </a:r>
          </a:p>
          <a:p>
            <a:r>
              <a:rPr lang="en-US" sz="2200" dirty="0">
                <a:latin typeface="Times New Roman" panose="02020603050405020304" pitchFamily="18" charset="0"/>
                <a:cs typeface="Times New Roman" panose="02020603050405020304" pitchFamily="18" charset="0"/>
              </a:rPr>
              <a:t>The application stores entries using </a:t>
            </a:r>
            <a:r>
              <a:rPr lang="en-US" sz="2200" b="1" dirty="0" err="1">
                <a:latin typeface="Times New Roman" panose="02020603050405020304" pitchFamily="18" charset="0"/>
                <a:cs typeface="Times New Roman" panose="02020603050405020304" pitchFamily="18" charset="0"/>
              </a:rPr>
              <a:t>ArrayList</a:t>
            </a:r>
            <a:r>
              <a:rPr lang="en-US" sz="2200" dirty="0">
                <a:latin typeface="Times New Roman" panose="02020603050405020304" pitchFamily="18" charset="0"/>
                <a:cs typeface="Times New Roman" panose="02020603050405020304" pitchFamily="18" charset="0"/>
              </a:rPr>
              <a:t> for dynamic data management and </a:t>
            </a:r>
            <a:r>
              <a:rPr lang="en-US" sz="2200" b="1" dirty="0" err="1">
                <a:latin typeface="Times New Roman" panose="02020603050405020304" pitchFamily="18" charset="0"/>
                <a:cs typeface="Times New Roman" panose="02020603050405020304" pitchFamily="18" charset="0"/>
              </a:rPr>
              <a:t>HashMap</a:t>
            </a:r>
            <a:r>
              <a:rPr lang="en-US" sz="2200" dirty="0">
                <a:latin typeface="Times New Roman" panose="02020603050405020304" pitchFamily="18" charset="0"/>
                <a:cs typeface="Times New Roman" panose="02020603050405020304" pitchFamily="18" charset="0"/>
              </a:rPr>
              <a:t> for faster access to ritual entries. It also includes features such as viewing entries, searching rituals based on mood, and sorting rituals by mood rating. These functionalities help users reflect on their emotional patterns and personal growth.</a:t>
            </a:r>
          </a:p>
          <a:p>
            <a:r>
              <a:rPr lang="en-US" sz="2200" dirty="0">
                <a:latin typeface="Times New Roman" panose="02020603050405020304" pitchFamily="18" charset="0"/>
                <a:cs typeface="Times New Roman" panose="02020603050405020304" pitchFamily="18" charset="0"/>
              </a:rPr>
              <a:t>The project demonstrates the use of </a:t>
            </a:r>
            <a:r>
              <a:rPr lang="en-US" sz="2200" b="1" dirty="0">
                <a:latin typeface="Times New Roman" panose="02020603050405020304" pitchFamily="18" charset="0"/>
                <a:cs typeface="Times New Roman" panose="02020603050405020304" pitchFamily="18" charset="0"/>
              </a:rPr>
              <a:t>Object-Oriented Programming</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data structures</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searching</a:t>
            </a:r>
            <a:r>
              <a:rPr lang="en-US" sz="2200" dirty="0">
                <a:latin typeface="Times New Roman" panose="02020603050405020304" pitchFamily="18" charset="0"/>
                <a:cs typeface="Times New Roman" panose="02020603050405020304" pitchFamily="18" charset="0"/>
              </a:rPr>
              <a:t>, and </a:t>
            </a:r>
            <a:r>
              <a:rPr lang="en-US" sz="2200" b="1" dirty="0">
                <a:latin typeface="Times New Roman" panose="02020603050405020304" pitchFamily="18" charset="0"/>
                <a:cs typeface="Times New Roman" panose="02020603050405020304" pitchFamily="18" charset="0"/>
              </a:rPr>
              <a:t>sorting algorithms</a:t>
            </a:r>
            <a:r>
              <a:rPr lang="en-US" sz="2200" dirty="0">
                <a:latin typeface="Times New Roman" panose="02020603050405020304" pitchFamily="18" charset="0"/>
                <a:cs typeface="Times New Roman" panose="02020603050405020304" pitchFamily="18" charset="0"/>
              </a:rPr>
              <a:t> in Java while creating a simple and meaningful journaling system.</a:t>
            </a:r>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2715783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D45DB3B1-7702-A34D-B15A-E964B95D6FB5}"/>
              </a:ext>
            </a:extLst>
          </p:cNvPr>
          <p:cNvSpPr>
            <a:spLocks noGrp="1"/>
          </p:cNvSpPr>
          <p:nvPr>
            <p:ph type="title"/>
          </p:nvPr>
        </p:nvSpPr>
        <p:spPr>
          <a:xfrm>
            <a:off x="1180618" y="365125"/>
            <a:ext cx="10173182" cy="1128009"/>
          </a:xfrm>
        </p:spPr>
        <p:txBody>
          <a:bodyPr/>
          <a:lstStyle/>
          <a:p>
            <a:pPr algn="ctr"/>
            <a:r>
              <a:rPr lang="en-US" b="1" dirty="0"/>
              <a:t>Existing System </a:t>
            </a:r>
          </a:p>
        </p:txBody>
      </p:sp>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p:txBody>
          <a:bodyPr>
            <a:normAutofit/>
          </a:bodyPr>
          <a:lstStyle/>
          <a:p>
            <a:r>
              <a:rPr lang="en-US" sz="2200" dirty="0">
                <a:latin typeface="Times New Roman" panose="02020603050405020304" pitchFamily="18" charset="0"/>
                <a:cs typeface="Times New Roman" panose="02020603050405020304" pitchFamily="18" charset="0"/>
              </a:rPr>
              <a:t>Most people currently rely on traditional journaling methods or simple note-taking applications to record their thoughts and experiences.</a:t>
            </a:r>
          </a:p>
          <a:p>
            <a:r>
              <a:rPr lang="en-US" sz="2200" dirty="0">
                <a:latin typeface="Times New Roman" panose="02020603050405020304" pitchFamily="18" charset="0"/>
                <a:cs typeface="Times New Roman" panose="02020603050405020304" pitchFamily="18" charset="0"/>
              </a:rPr>
              <a:t>However, these systems have several limitations:</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Lack of guided reflection questions</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No structured way to analyze weekly emotions</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Difficult to organize past reflections</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Limited interactivity and engagement</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No mood tracking features</a:t>
            </a:r>
          </a:p>
          <a:p>
            <a:r>
              <a:rPr lang="en-US" sz="2200" dirty="0">
                <a:latin typeface="Times New Roman" panose="02020603050405020304" pitchFamily="18" charset="0"/>
                <a:cs typeface="Times New Roman" panose="02020603050405020304" pitchFamily="18" charset="0"/>
              </a:rPr>
              <a:t>Because of these limitations, users often struggle to maintain a consistent reflection habit.</a:t>
            </a:r>
          </a:p>
          <a:p>
            <a:pPr marL="457200" lvl="1" indent="-339725" algn="just"/>
            <a:endParaRPr lang="en-US" sz="2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xmlns=""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9308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2EAE696E-C5CB-1479-F98C-F7C2D0B7BED0}"/>
              </a:ext>
            </a:extLst>
          </p:cNvPr>
          <p:cNvSpPr>
            <a:spLocks noGrp="1"/>
          </p:cNvSpPr>
          <p:nvPr>
            <p:ph type="title"/>
          </p:nvPr>
        </p:nvSpPr>
        <p:spPr>
          <a:xfrm>
            <a:off x="1180618" y="365125"/>
            <a:ext cx="10173182" cy="1128009"/>
          </a:xfrm>
        </p:spPr>
        <p:txBody>
          <a:bodyPr/>
          <a:lstStyle/>
          <a:p>
            <a:pPr algn="ctr"/>
            <a:r>
              <a:rPr lang="en-US" b="1" dirty="0"/>
              <a:t>Proposed System</a:t>
            </a:r>
          </a:p>
        </p:txBody>
      </p:sp>
      <p:sp>
        <p:nvSpPr>
          <p:cNvPr id="9" name="Content Placeholder 8">
            <a:extLst>
              <a:ext uri="{FF2B5EF4-FFF2-40B4-BE49-F238E27FC236}">
                <a16:creationId xmlns:a16="http://schemas.microsoft.com/office/drawing/2014/main" xmlns="" id="{89135224-75FA-6942-7E71-50A315519F9D}"/>
              </a:ext>
            </a:extLst>
          </p:cNvPr>
          <p:cNvSpPr>
            <a:spLocks noGrp="1"/>
          </p:cNvSpPr>
          <p:nvPr>
            <p:ph idx="1"/>
          </p:nvPr>
        </p:nvSpPr>
        <p:spPr/>
        <p:txBody>
          <a:bodyPr>
            <a:normAutofit/>
          </a:bodyPr>
          <a:lstStyle/>
          <a:p>
            <a:pPr marL="0" indent="0">
              <a:buNone/>
            </a:pPr>
            <a:r>
              <a:rPr lang="en-US" sz="2200" b="1" dirty="0" smtClean="0">
                <a:latin typeface="Times New Roman" panose="02020603050405020304" pitchFamily="18" charset="0"/>
                <a:cs typeface="Times New Roman" panose="02020603050405020304" pitchFamily="18" charset="0"/>
              </a:rPr>
              <a:t>UNMUTE</a:t>
            </a:r>
            <a:r>
              <a:rPr lang="en-US" sz="2200" dirty="0">
                <a:latin typeface="Times New Roman" panose="02020603050405020304" pitchFamily="18" charset="0"/>
                <a:cs typeface="Times New Roman" panose="02020603050405020304" pitchFamily="18" charset="0"/>
              </a:rPr>
              <a:t>, provides a structured digital platform for weekly reflection and emotional tracking.</a:t>
            </a:r>
          </a:p>
          <a:p>
            <a:r>
              <a:rPr lang="en-US" sz="2200" dirty="0" smtClean="0">
                <a:latin typeface="Times New Roman" panose="02020603050405020304" pitchFamily="18" charset="0"/>
                <a:cs typeface="Times New Roman" panose="02020603050405020304" pitchFamily="18" charset="0"/>
              </a:rPr>
              <a:t>The application allows users to:</a:t>
            </a:r>
          </a:p>
          <a:p>
            <a:pPr marL="457200" lvl="1" indent="0">
              <a:buNone/>
            </a:pPr>
            <a:r>
              <a:rPr lang="en-US" sz="2200" dirty="0" smtClean="0">
                <a:latin typeface="Times New Roman" panose="02020603050405020304" pitchFamily="18" charset="0"/>
                <a:cs typeface="Times New Roman" panose="02020603050405020304" pitchFamily="18" charset="0"/>
              </a:rPr>
              <a:t>	• Log in to a private reflection space</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Answer guided weekly reflection questions</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Rate their emotional state using a mood scale</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Write messages to their future selves</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Seal reflections in a digital vault</a:t>
            </a:r>
            <a:br>
              <a:rPr lang="en-US" sz="2200" dirty="0" smtClean="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View reflection statistics such as weeks completed and average mood</a:t>
            </a:r>
          </a:p>
          <a:p>
            <a:r>
              <a:rPr lang="en-US" sz="2200" dirty="0" smtClean="0">
                <a:latin typeface="Times New Roman" panose="02020603050405020304" pitchFamily="18" charset="0"/>
                <a:cs typeface="Times New Roman" panose="02020603050405020304" pitchFamily="18" charset="0"/>
              </a:rPr>
              <a:t>The system provides a clean, organized interface that encourages users to regularly reflect on their experiences.</a:t>
            </a:r>
          </a:p>
          <a:p>
            <a:endParaRPr lang="en-US" dirty="0"/>
          </a:p>
        </p:txBody>
      </p:sp>
      <p:sp>
        <p:nvSpPr>
          <p:cNvPr id="5" name="Date Placeholder 4">
            <a:extLst>
              <a:ext uri="{FF2B5EF4-FFF2-40B4-BE49-F238E27FC236}">
                <a16:creationId xmlns:a16="http://schemas.microsoft.com/office/drawing/2014/main" xmlns=""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dirty="0"/>
          </a:p>
        </p:txBody>
      </p:sp>
      <p:sp>
        <p:nvSpPr>
          <p:cNvPr id="6" name="Footer Placeholder 5">
            <a:extLst>
              <a:ext uri="{FF2B5EF4-FFF2-40B4-BE49-F238E27FC236}">
                <a16:creationId xmlns:a16="http://schemas.microsoft.com/office/drawing/2014/main" xmlns=""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F9D399E1-BA43-10D5-C92A-C058676C1ABA}"/>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3205484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sp>
        <p:nvSpPr>
          <p:cNvPr id="5" name="Date Placeholder 4">
            <a:extLst>
              <a:ext uri="{FF2B5EF4-FFF2-40B4-BE49-F238E27FC236}">
                <a16:creationId xmlns:a16="http://schemas.microsoft.com/office/drawing/2014/main" xmlns=""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27B2409B-FFAD-25CD-834C-0C2CA4A71B30}"/>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6943" y="1306879"/>
            <a:ext cx="7877908" cy="50494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489011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2F8E0586-CE85-480D-585E-FCD3C3448CF2}"/>
              </a:ext>
            </a:extLst>
          </p:cNvPr>
          <p:cNvSpPr>
            <a:spLocks noGrp="1"/>
          </p:cNvSpPr>
          <p:nvPr>
            <p:ph type="title"/>
          </p:nvPr>
        </p:nvSpPr>
        <p:spPr>
          <a:xfrm>
            <a:off x="1180618" y="365125"/>
            <a:ext cx="10173182" cy="1128009"/>
          </a:xfrm>
        </p:spPr>
        <p:txBody>
          <a:bodyPr/>
          <a:lstStyle/>
          <a:p>
            <a:pPr algn="ctr"/>
            <a:r>
              <a:rPr lang="en-US" b="1" dirty="0"/>
              <a:t>Project Modules</a:t>
            </a:r>
          </a:p>
        </p:txBody>
      </p:sp>
      <p:sp>
        <p:nvSpPr>
          <p:cNvPr id="9" name="Content Placeholder 8">
            <a:extLst>
              <a:ext uri="{FF2B5EF4-FFF2-40B4-BE49-F238E27FC236}">
                <a16:creationId xmlns:a16="http://schemas.microsoft.com/office/drawing/2014/main" xmlns="" id="{1890F206-B37F-761D-F471-0BF91F889799}"/>
              </a:ext>
            </a:extLst>
          </p:cNvPr>
          <p:cNvSpPr>
            <a:spLocks noGrp="1"/>
          </p:cNvSpPr>
          <p:nvPr>
            <p:ph idx="1"/>
          </p:nvPr>
        </p:nvSpPr>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1. Authentication Module</a:t>
            </a:r>
          </a:p>
          <a:p>
            <a:r>
              <a:rPr lang="en-US" sz="2200" dirty="0">
                <a:latin typeface="Times New Roman" panose="02020603050405020304" pitchFamily="18" charset="0"/>
                <a:cs typeface="Times New Roman" panose="02020603050405020304" pitchFamily="18" charset="0"/>
              </a:rPr>
              <a:t>Allows users to enter their reflection space using email credentials. The system verifies the email format and loads the personal journal interface.</a:t>
            </a:r>
          </a:p>
          <a:p>
            <a:pPr marL="0" indent="0">
              <a:buNone/>
            </a:pPr>
            <a:r>
              <a:rPr lang="en-US" sz="2200" b="1" dirty="0">
                <a:latin typeface="Times New Roman" panose="02020603050405020304" pitchFamily="18" charset="0"/>
                <a:cs typeface="Times New Roman" panose="02020603050405020304" pitchFamily="18" charset="0"/>
              </a:rPr>
              <a:t>2. </a:t>
            </a:r>
            <a:r>
              <a:rPr lang="en-US" sz="2200" b="1" dirty="0" smtClean="0">
                <a:latin typeface="Times New Roman" panose="02020603050405020304" pitchFamily="18" charset="0"/>
                <a:cs typeface="Times New Roman" panose="02020603050405020304" pitchFamily="18" charset="0"/>
              </a:rPr>
              <a:t>Weekly Reflection Module </a:t>
            </a:r>
            <a:r>
              <a:rPr lang="en-US" sz="2200" b="1" dirty="0">
                <a:latin typeface="Times New Roman" panose="02020603050405020304" pitchFamily="18" charset="0"/>
                <a:cs typeface="Times New Roman" panose="02020603050405020304" pitchFamily="18" charset="0"/>
              </a:rPr>
              <a:t>(The Ritual)</a:t>
            </a:r>
          </a:p>
          <a:p>
            <a:r>
              <a:rPr lang="en-US" sz="2200" dirty="0">
                <a:latin typeface="Times New Roman" panose="02020603050405020304" pitchFamily="18" charset="0"/>
                <a:cs typeface="Times New Roman" panose="02020603050405020304" pitchFamily="18" charset="0"/>
              </a:rPr>
              <a:t>This module provides structured reflection prompts such as:</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One word to define the week</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The heaviest challenge faced</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Something the user survived</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What made the user feel alive</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Who they supported during the week</a:t>
            </a:r>
          </a:p>
          <a:p>
            <a:r>
              <a:rPr lang="en-US" sz="2200" dirty="0">
                <a:latin typeface="Times New Roman" panose="02020603050405020304" pitchFamily="18" charset="0"/>
                <a:cs typeface="Times New Roman" panose="02020603050405020304" pitchFamily="18" charset="0"/>
              </a:rPr>
              <a:t>Users also rate their weekly mood.</a:t>
            </a:r>
          </a:p>
          <a:p>
            <a:endParaRPr lang="en-US" sz="2200" dirty="0"/>
          </a:p>
        </p:txBody>
      </p:sp>
      <p:sp>
        <p:nvSpPr>
          <p:cNvPr id="5" name="Date Placeholder 4">
            <a:extLst>
              <a:ext uri="{FF2B5EF4-FFF2-40B4-BE49-F238E27FC236}">
                <a16:creationId xmlns:a16="http://schemas.microsoft.com/office/drawing/2014/main" xmlns=""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E45A9859-4671-FF5D-1356-4CDA5C5CDEA3}"/>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4072965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103485-1CDC-6A29-86F1-EC5F9BB7E72B}"/>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xmlns="" id="{1890F206-B37F-761D-F471-0BF91F889799}"/>
              </a:ext>
            </a:extLst>
          </p:cNvPr>
          <p:cNvSpPr>
            <a:spLocks noGrp="1"/>
          </p:cNvSpPr>
          <p:nvPr>
            <p:ph idx="1"/>
          </p:nvPr>
        </p:nvSpPr>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3. Emotional Archive Module</a:t>
            </a:r>
          </a:p>
          <a:p>
            <a:r>
              <a:rPr lang="en-US" sz="2200" dirty="0">
                <a:latin typeface="Times New Roman" panose="02020603050405020304" pitchFamily="18" charset="0"/>
                <a:cs typeface="Times New Roman" panose="02020603050405020304" pitchFamily="18" charset="0"/>
              </a:rPr>
              <a:t>Displays reflection statistics such as:</a:t>
            </a: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Total weeks recorded</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Reflection streak</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Average mood rating</a:t>
            </a:r>
          </a:p>
          <a:p>
            <a:r>
              <a:rPr lang="en-US" sz="2200" dirty="0">
                <a:latin typeface="Times New Roman" panose="02020603050405020304" pitchFamily="18" charset="0"/>
                <a:cs typeface="Times New Roman" panose="02020603050405020304" pitchFamily="18" charset="0"/>
              </a:rPr>
              <a:t>This helps users track emotional progress over time.</a:t>
            </a:r>
          </a:p>
          <a:p>
            <a:pPr marL="0" indent="0">
              <a:buNone/>
            </a:pPr>
            <a:r>
              <a:rPr lang="en-US" sz="2200" b="1" dirty="0">
                <a:latin typeface="Times New Roman" panose="02020603050405020304" pitchFamily="18" charset="0"/>
                <a:cs typeface="Times New Roman" panose="02020603050405020304" pitchFamily="18" charset="0"/>
              </a:rPr>
              <a:t>4. Vault Module</a:t>
            </a:r>
          </a:p>
          <a:p>
            <a:r>
              <a:rPr lang="en-US" sz="2200" dirty="0">
                <a:latin typeface="Times New Roman" panose="02020603050405020304" pitchFamily="18" charset="0"/>
                <a:cs typeface="Times New Roman" panose="02020603050405020304" pitchFamily="18" charset="0"/>
              </a:rPr>
              <a:t>Stores sealed reflection entries in a digital time capsule. Entries remain locked until the next month and can then be accessed by the user.</a:t>
            </a:r>
          </a:p>
          <a:p>
            <a:endParaRPr lang="en-US" sz="2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xmlns=""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1745369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787EB9E5-2196-BA25-5BC0-0ADC2050CEF9}"/>
              </a:ext>
            </a:extLst>
          </p:cNvPr>
          <p:cNvSpPr>
            <a:spLocks noGrp="1"/>
          </p:cNvSpPr>
          <p:nvPr>
            <p:ph type="title"/>
          </p:nvPr>
        </p:nvSpPr>
        <p:spPr>
          <a:xfrm>
            <a:off x="1180618" y="365125"/>
            <a:ext cx="10173182" cy="1128009"/>
          </a:xfrm>
        </p:spPr>
        <p:txBody>
          <a:bodyPr/>
          <a:lstStyle/>
          <a:p>
            <a:pPr algn="ctr"/>
            <a:r>
              <a:rPr lang="en-US" b="1" dirty="0"/>
              <a:t>Objectives</a:t>
            </a:r>
          </a:p>
        </p:txBody>
      </p:sp>
      <p:sp>
        <p:nvSpPr>
          <p:cNvPr id="9" name="Content Placeholder 8">
            <a:extLst>
              <a:ext uri="{FF2B5EF4-FFF2-40B4-BE49-F238E27FC236}">
                <a16:creationId xmlns:a16="http://schemas.microsoft.com/office/drawing/2014/main" xmlns="" id="{363C44B8-E8B6-5D9D-90FF-ECD825D72DFC}"/>
              </a:ext>
            </a:extLst>
          </p:cNvPr>
          <p:cNvSpPr>
            <a:spLocks noGrp="1"/>
          </p:cNvSpPr>
          <p:nvPr>
            <p:ph idx="1"/>
          </p:nvPr>
        </p:nvSpPr>
        <p:spPr/>
        <p:txBody>
          <a:bodyPr>
            <a:normAutofit/>
          </a:bodyPr>
          <a:lstStyle/>
          <a:p>
            <a:r>
              <a:rPr lang="en-US" sz="2400" dirty="0" smtClean="0">
                <a:latin typeface="Times New Roman" panose="02020603050405020304" pitchFamily="18" charset="0"/>
                <a:cs typeface="Times New Roman" panose="02020603050405020304" pitchFamily="18" charset="0"/>
              </a:rPr>
              <a:t>To </a:t>
            </a:r>
            <a:r>
              <a:rPr lang="en-US" sz="2400" dirty="0">
                <a:latin typeface="Times New Roman" panose="02020603050405020304" pitchFamily="18" charset="0"/>
                <a:cs typeface="Times New Roman" panose="02020603050405020304" pitchFamily="18" charset="0"/>
              </a:rPr>
              <a:t>develop a </a:t>
            </a:r>
            <a:r>
              <a:rPr lang="en-US" sz="2400" b="1" dirty="0">
                <a:latin typeface="Times New Roman" panose="02020603050405020304" pitchFamily="18" charset="0"/>
                <a:cs typeface="Times New Roman" panose="02020603050405020304" pitchFamily="18" charset="0"/>
              </a:rPr>
              <a:t>console-based journaling application using Java</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To provide users with a </a:t>
            </a:r>
            <a:r>
              <a:rPr lang="en-US" sz="2400" b="1" dirty="0">
                <a:latin typeface="Times New Roman" panose="02020603050405020304" pitchFamily="18" charset="0"/>
                <a:cs typeface="Times New Roman" panose="02020603050405020304" pitchFamily="18" charset="0"/>
              </a:rPr>
              <a:t>private space to express thoughts and emotions</a:t>
            </a:r>
            <a:r>
              <a:rPr lang="en-US" sz="2400" dirty="0">
                <a:latin typeface="Times New Roman" panose="02020603050405020304" pitchFamily="18" charset="0"/>
                <a:cs typeface="Times New Roman" panose="02020603050405020304" pitchFamily="18" charset="0"/>
              </a:rPr>
              <a:t> through weekly reflections and vent entries.</a:t>
            </a:r>
          </a:p>
          <a:p>
            <a:r>
              <a:rPr lang="en-US" sz="2400" dirty="0">
                <a:latin typeface="Times New Roman" panose="02020603050405020304" pitchFamily="18" charset="0"/>
                <a:cs typeface="Times New Roman" panose="02020603050405020304" pitchFamily="18" charset="0"/>
              </a:rPr>
              <a:t>To implement </a:t>
            </a:r>
            <a:r>
              <a:rPr lang="en-US" sz="2400" b="1" dirty="0">
                <a:latin typeface="Times New Roman" panose="02020603050405020304" pitchFamily="18" charset="0"/>
                <a:cs typeface="Times New Roman" panose="02020603050405020304" pitchFamily="18" charset="0"/>
              </a:rPr>
              <a:t>Object-Oriented Programming concepts</a:t>
            </a:r>
            <a:r>
              <a:rPr lang="en-US" sz="2400" dirty="0">
                <a:latin typeface="Times New Roman" panose="02020603050405020304" pitchFamily="18" charset="0"/>
                <a:cs typeface="Times New Roman" panose="02020603050405020304" pitchFamily="18" charset="0"/>
              </a:rPr>
              <a:t> such as classes and objects.</a:t>
            </a:r>
          </a:p>
          <a:p>
            <a:r>
              <a:rPr lang="en-US" sz="2400" dirty="0">
                <a:latin typeface="Times New Roman" panose="02020603050405020304" pitchFamily="18" charset="0"/>
                <a:cs typeface="Times New Roman" panose="02020603050405020304" pitchFamily="18" charset="0"/>
              </a:rPr>
              <a:t>To use </a:t>
            </a:r>
            <a:r>
              <a:rPr lang="en-US" sz="2400" b="1" dirty="0">
                <a:latin typeface="Times New Roman" panose="02020603050405020304" pitchFamily="18" charset="0"/>
                <a:cs typeface="Times New Roman" panose="02020603050405020304" pitchFamily="18" charset="0"/>
              </a:rPr>
              <a:t>data structures like </a:t>
            </a:r>
            <a:r>
              <a:rPr lang="en-US" sz="2400" b="1" dirty="0" err="1">
                <a:latin typeface="Times New Roman" panose="02020603050405020304" pitchFamily="18" charset="0"/>
                <a:cs typeface="Times New Roman" panose="02020603050405020304" pitchFamily="18" charset="0"/>
              </a:rPr>
              <a:t>ArrayList</a:t>
            </a:r>
            <a:r>
              <a:rPr lang="en-US" sz="2400" b="1" dirty="0">
                <a:latin typeface="Times New Roman" panose="02020603050405020304" pitchFamily="18" charset="0"/>
                <a:cs typeface="Times New Roman" panose="02020603050405020304" pitchFamily="18" charset="0"/>
              </a:rPr>
              <a:t> and </a:t>
            </a:r>
            <a:r>
              <a:rPr lang="en-US" sz="2400" b="1" dirty="0" err="1">
                <a:latin typeface="Times New Roman" panose="02020603050405020304" pitchFamily="18" charset="0"/>
                <a:cs typeface="Times New Roman" panose="02020603050405020304" pitchFamily="18" charset="0"/>
              </a:rPr>
              <a:t>HashMap</a:t>
            </a:r>
            <a:r>
              <a:rPr lang="en-US" sz="2400" dirty="0">
                <a:latin typeface="Times New Roman" panose="02020603050405020304" pitchFamily="18" charset="0"/>
                <a:cs typeface="Times New Roman" panose="02020603050405020304" pitchFamily="18" charset="0"/>
              </a:rPr>
              <a:t> for efficient storage and retrieval of journal entries.</a:t>
            </a:r>
          </a:p>
          <a:p>
            <a:r>
              <a:rPr lang="en-US" sz="2400" dirty="0">
                <a:latin typeface="Times New Roman" panose="02020603050405020304" pitchFamily="18" charset="0"/>
                <a:cs typeface="Times New Roman" panose="02020603050405020304" pitchFamily="18" charset="0"/>
              </a:rPr>
              <a:t>To implement </a:t>
            </a:r>
            <a:r>
              <a:rPr lang="en-US" sz="2400" b="1" dirty="0">
                <a:latin typeface="Times New Roman" panose="02020603050405020304" pitchFamily="18" charset="0"/>
                <a:cs typeface="Times New Roman" panose="02020603050405020304" pitchFamily="18" charset="0"/>
              </a:rPr>
              <a:t>searching and sorting techniques</a:t>
            </a:r>
            <a:r>
              <a:rPr lang="en-US" sz="2400" dirty="0">
                <a:latin typeface="Times New Roman" panose="02020603050405020304" pitchFamily="18" charset="0"/>
                <a:cs typeface="Times New Roman" panose="02020603050405020304" pitchFamily="18" charset="0"/>
              </a:rPr>
              <a:t> to organize and access ritual entries based on mood.</a:t>
            </a:r>
          </a:p>
          <a:p>
            <a:r>
              <a:rPr lang="en-US" sz="2400" dirty="0">
                <a:latin typeface="Times New Roman" panose="02020603050405020304" pitchFamily="18" charset="0"/>
                <a:cs typeface="Times New Roman" panose="02020603050405020304" pitchFamily="18" charset="0"/>
              </a:rPr>
              <a:t>To create a </a:t>
            </a:r>
            <a:r>
              <a:rPr lang="en-US" sz="2400" b="1" dirty="0">
                <a:latin typeface="Times New Roman" panose="02020603050405020304" pitchFamily="18" charset="0"/>
                <a:cs typeface="Times New Roman" panose="02020603050405020304" pitchFamily="18" charset="0"/>
              </a:rPr>
              <a:t>simple menu-driven system</a:t>
            </a:r>
            <a:r>
              <a:rPr lang="en-US" sz="2400" dirty="0">
                <a:latin typeface="Times New Roman" panose="02020603050405020304" pitchFamily="18" charset="0"/>
                <a:cs typeface="Times New Roman" panose="02020603050405020304" pitchFamily="18" charset="0"/>
              </a:rPr>
              <a:t> that allows users to easily record, view, search, and sort their journal entries.</a:t>
            </a: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xmlns=""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C3A50108-EF3B-F9BF-CB25-7C4C67A41AAC}"/>
              </a:ext>
            </a:extLst>
          </p:cNvPr>
          <p:cNvSpPr>
            <a:spLocks noGrp="1"/>
          </p:cNvSpPr>
          <p:nvPr>
            <p:ph type="title"/>
          </p:nvPr>
        </p:nvSpPr>
        <p:spPr>
          <a:xfrm>
            <a:off x="1180618" y="365125"/>
            <a:ext cx="10173182" cy="1128009"/>
          </a:xfrm>
        </p:spPr>
        <p:txBody>
          <a:bodyPr/>
          <a:lstStyle/>
          <a:p>
            <a:pPr algn="ctr"/>
            <a:r>
              <a:rPr lang="en-US" b="1" dirty="0"/>
              <a:t>Co’s Attainments - FWD</a:t>
            </a:r>
          </a:p>
        </p:txBody>
      </p:sp>
      <p:sp>
        <p:nvSpPr>
          <p:cNvPr id="9" name="Content Placeholder 8">
            <a:extLst>
              <a:ext uri="{FF2B5EF4-FFF2-40B4-BE49-F238E27FC236}">
                <a16:creationId xmlns:a16="http://schemas.microsoft.com/office/drawing/2014/main" xmlns="" id="{8769557B-A6AB-F48D-9A16-51F755A17BB7}"/>
              </a:ext>
            </a:extLst>
          </p:cNvPr>
          <p:cNvSpPr>
            <a:spLocks noGrp="1"/>
          </p:cNvSpPr>
          <p:nvPr>
            <p:ph idx="1"/>
          </p:nvPr>
        </p:nvSpPr>
        <p:spPr/>
        <p:txBody>
          <a:bodyPr>
            <a:noAutofit/>
          </a:bodyPr>
          <a:lstStyle/>
          <a:p>
            <a:r>
              <a:rPr lang="en-US" sz="2000" b="1" dirty="0">
                <a:latin typeface="Times New Roman" panose="02020603050405020304" pitchFamily="18" charset="0"/>
                <a:cs typeface="Times New Roman" panose="02020603050405020304" pitchFamily="18" charset="0"/>
              </a:rPr>
              <a:t>CO1 — Internet Fundamentals, HTML &amp; Introductory CSS</a:t>
            </a:r>
          </a:p>
          <a:p>
            <a:pPr marL="0" indent="0">
              <a:buNone/>
            </a:pPr>
            <a:r>
              <a:rPr lang="en-US" sz="2000" dirty="0" smtClean="0">
                <a:latin typeface="Times New Roman" panose="02020603050405020304" pitchFamily="18" charset="0"/>
                <a:cs typeface="Times New Roman" panose="02020603050405020304" pitchFamily="18" charset="0"/>
              </a:rPr>
              <a:t>	The </a:t>
            </a:r>
            <a:r>
              <a:rPr lang="en-US" sz="2000" dirty="0">
                <a:latin typeface="Times New Roman" panose="02020603050405020304" pitchFamily="18" charset="0"/>
                <a:cs typeface="Times New Roman" panose="02020603050405020304" pitchFamily="18" charset="0"/>
              </a:rPr>
              <a:t>project demonstrates the use of HTML to structure web pages and CSS to style layouts, </a:t>
            </a:r>
            <a:r>
              <a:rPr lang="en-US" sz="2000" dirty="0" smtClean="0">
                <a:latin typeface="Times New Roman" panose="02020603050405020304" pitchFamily="18" charset="0"/>
                <a:cs typeface="Times New Roman" panose="02020603050405020304" pitchFamily="18" charset="0"/>
              </a:rPr>
              <a:t>	typography</a:t>
            </a:r>
            <a:r>
              <a:rPr lang="en-US" sz="2000" dirty="0">
                <a:latin typeface="Times New Roman" panose="02020603050405020304" pitchFamily="18" charset="0"/>
                <a:cs typeface="Times New Roman" panose="02020603050405020304" pitchFamily="18" charset="0"/>
              </a:rPr>
              <a:t>, and color schemes.</a:t>
            </a:r>
          </a:p>
          <a:p>
            <a:r>
              <a:rPr lang="en-US" sz="2000" b="1" dirty="0">
                <a:latin typeface="Times New Roman" panose="02020603050405020304" pitchFamily="18" charset="0"/>
                <a:cs typeface="Times New Roman" panose="02020603050405020304" pitchFamily="18" charset="0"/>
              </a:rPr>
              <a:t>CO2 — HTML Forms &amp; CSS Layout</a:t>
            </a:r>
          </a:p>
          <a:p>
            <a:pPr marL="0" indent="0">
              <a:buNone/>
            </a:pPr>
            <a:r>
              <a:rPr lang="en-US" sz="2000" dirty="0" smtClean="0">
                <a:latin typeface="Times New Roman" panose="02020603050405020304" pitchFamily="18" charset="0"/>
                <a:cs typeface="Times New Roman" panose="02020603050405020304" pitchFamily="18" charset="0"/>
              </a:rPr>
              <a:t>	Forms </a:t>
            </a:r>
            <a:r>
              <a:rPr lang="en-US" sz="2000" dirty="0">
                <a:latin typeface="Times New Roman" panose="02020603050405020304" pitchFamily="18" charset="0"/>
                <a:cs typeface="Times New Roman" panose="02020603050405020304" pitchFamily="18" charset="0"/>
              </a:rPr>
              <a:t>are used to collect reflection responses, while CSS techniques such as Flexbox and </a:t>
            </a:r>
            <a:r>
              <a:rPr lang="en-US" sz="2000" dirty="0" smtClean="0">
                <a:latin typeface="Times New Roman" panose="02020603050405020304" pitchFamily="18" charset="0"/>
                <a:cs typeface="Times New Roman" panose="02020603050405020304" pitchFamily="18" charset="0"/>
              </a:rPr>
              <a:t>	responsive layouts </a:t>
            </a:r>
            <a:r>
              <a:rPr lang="en-US" sz="2000" dirty="0">
                <a:latin typeface="Times New Roman" panose="02020603050405020304" pitchFamily="18" charset="0"/>
                <a:cs typeface="Times New Roman" panose="02020603050405020304" pitchFamily="18" charset="0"/>
              </a:rPr>
              <a:t>are used to structure the interface.</a:t>
            </a:r>
          </a:p>
          <a:p>
            <a:r>
              <a:rPr lang="en-US" sz="2000" b="1" dirty="0">
                <a:latin typeface="Times New Roman" panose="02020603050405020304" pitchFamily="18" charset="0"/>
                <a:cs typeface="Times New Roman" panose="02020603050405020304" pitchFamily="18" charset="0"/>
              </a:rPr>
              <a:t>CO3 — JavaScript Programming Essentials</a:t>
            </a:r>
          </a:p>
          <a:p>
            <a:pPr marL="0" indent="0">
              <a:buNone/>
            </a:pPr>
            <a:r>
              <a:rPr lang="en-US" sz="2000" dirty="0" smtClean="0">
                <a:latin typeface="Times New Roman" panose="02020603050405020304" pitchFamily="18" charset="0"/>
                <a:cs typeface="Times New Roman" panose="02020603050405020304" pitchFamily="18" charset="0"/>
              </a:rPr>
              <a:t>	JavaScript </a:t>
            </a:r>
            <a:r>
              <a:rPr lang="en-US" sz="2000" dirty="0">
                <a:latin typeface="Times New Roman" panose="02020603050405020304" pitchFamily="18" charset="0"/>
                <a:cs typeface="Times New Roman" panose="02020603050405020304" pitchFamily="18" charset="0"/>
              </a:rPr>
              <a:t>is used for conditions, loops, functions, and arrays to process reflection entries </a:t>
            </a:r>
            <a:r>
              <a:rPr lang="en-US" sz="2000" dirty="0" smtClean="0">
                <a:latin typeface="Times New Roman" panose="02020603050405020304" pitchFamily="18" charset="0"/>
                <a:cs typeface="Times New Roman" panose="02020603050405020304" pitchFamily="18" charset="0"/>
              </a:rPr>
              <a:t>	and mood data</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xmlns=""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C149560-5402-A083-5191-CC2F23364A71}"/>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xmlns="" id="{8769557B-A6AB-F48D-9A16-51F755A17BB7}"/>
              </a:ext>
            </a:extLst>
          </p:cNvPr>
          <p:cNvSpPr>
            <a:spLocks noGrp="1"/>
          </p:cNvSpPr>
          <p:nvPr>
            <p:ph idx="1"/>
          </p:nvPr>
        </p:nvSpPr>
        <p:spPr/>
        <p:txBody>
          <a:bodyPr>
            <a:noAutofit/>
          </a:bodyPr>
          <a:lstStyle/>
          <a:p>
            <a:r>
              <a:rPr lang="en-US" sz="2000" b="1" dirty="0">
                <a:latin typeface="Times New Roman" panose="02020603050405020304" pitchFamily="18" charset="0"/>
                <a:cs typeface="Times New Roman" panose="02020603050405020304" pitchFamily="18" charset="0"/>
              </a:rPr>
              <a:t>CO4 — JavaScript Interactivity &amp; DOM</a:t>
            </a:r>
          </a:p>
          <a:p>
            <a:pPr marL="0" indent="0">
              <a:buNone/>
            </a:pPr>
            <a:r>
              <a:rPr lang="en-US" sz="2000" dirty="0">
                <a:latin typeface="Times New Roman" panose="02020603050405020304" pitchFamily="18" charset="0"/>
                <a:cs typeface="Times New Roman" panose="02020603050405020304" pitchFamily="18" charset="0"/>
              </a:rPr>
              <a:t>	DOM manipulation and event handling allow the application to dynamically update the </a:t>
            </a:r>
            <a:r>
              <a:rPr lang="en-US" sz="2000" dirty="0" smtClean="0">
                <a:latin typeface="Times New Roman" panose="02020603050405020304" pitchFamily="18" charset="0"/>
                <a:cs typeface="Times New Roman" panose="02020603050405020304" pitchFamily="18" charset="0"/>
              </a:rPr>
              <a:t>	interface based </a:t>
            </a:r>
            <a:r>
              <a:rPr lang="en-US" sz="2000" dirty="0">
                <a:latin typeface="Times New Roman" panose="02020603050405020304" pitchFamily="18" charset="0"/>
                <a:cs typeface="Times New Roman" panose="02020603050405020304" pitchFamily="18" charset="0"/>
              </a:rPr>
              <a:t>on user interactions.</a:t>
            </a:r>
          </a:p>
          <a:p>
            <a:r>
              <a:rPr lang="en-US" sz="2000" b="1" dirty="0">
                <a:latin typeface="Times New Roman" panose="02020603050405020304" pitchFamily="18" charset="0"/>
                <a:cs typeface="Times New Roman" panose="02020603050405020304" pitchFamily="18" charset="0"/>
              </a:rPr>
              <a:t>CO5 — Advanced Web Development</a:t>
            </a:r>
          </a:p>
          <a:p>
            <a:pPr marL="0" indent="0">
              <a:buNone/>
            </a:pPr>
            <a:r>
              <a:rPr lang="en-US" sz="2000" dirty="0">
                <a:latin typeface="Times New Roman" panose="02020603050405020304" pitchFamily="18" charset="0"/>
                <a:cs typeface="Times New Roman" panose="02020603050405020304" pitchFamily="18" charset="0"/>
              </a:rPr>
              <a:t>	The application uses browser storage to store reflection entries and demonstrates dynamic </a:t>
            </a:r>
            <a:r>
              <a:rPr lang="en-US" sz="2000" dirty="0" smtClean="0">
                <a:latin typeface="Times New Roman" panose="02020603050405020304" pitchFamily="18" charset="0"/>
                <a:cs typeface="Times New Roman" panose="02020603050405020304" pitchFamily="18" charset="0"/>
              </a:rPr>
              <a:t>	content updates </a:t>
            </a:r>
            <a:r>
              <a:rPr lang="en-US" sz="2000" dirty="0">
                <a:latin typeface="Times New Roman" panose="02020603050405020304" pitchFamily="18" charset="0"/>
                <a:cs typeface="Times New Roman" panose="02020603050405020304" pitchFamily="18" charset="0"/>
              </a:rPr>
              <a:t>using JavaScript</a:t>
            </a:r>
          </a:p>
        </p:txBody>
      </p:sp>
      <p:sp>
        <p:nvSpPr>
          <p:cNvPr id="5" name="Date Placeholder 4">
            <a:extLst>
              <a:ext uri="{FF2B5EF4-FFF2-40B4-BE49-F238E27FC236}">
                <a16:creationId xmlns:a16="http://schemas.microsoft.com/office/drawing/2014/main" xmlns=""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803C038D-A939-9973-E752-364BB70EE05C}"/>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441766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323D68-D41B-9825-3931-B79590C795F8}"/>
              </a:ext>
            </a:extLst>
          </p:cNvPr>
          <p:cNvSpPr>
            <a:spLocks noGrp="1"/>
          </p:cNvSpPr>
          <p:nvPr>
            <p:ph type="title"/>
          </p:nvPr>
        </p:nvSpPr>
        <p:spPr/>
        <p:txBody>
          <a:bodyPr/>
          <a:lstStyle/>
          <a:p>
            <a:r>
              <a:rPr lang="en-US" dirty="0"/>
              <a:t>Screenshots for FWD </a:t>
            </a:r>
          </a:p>
        </p:txBody>
      </p:sp>
      <p:sp>
        <p:nvSpPr>
          <p:cNvPr id="4" name="Date Placeholder 3">
            <a:extLst>
              <a:ext uri="{FF2B5EF4-FFF2-40B4-BE49-F238E27FC236}">
                <a16:creationId xmlns:a16="http://schemas.microsoft.com/office/drawing/2014/main" xmlns=""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xmlns=""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xmlns="" id="{198D5113-7B1F-AF02-CDA9-5B3AB95BE716}"/>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2670" y="1613353"/>
            <a:ext cx="5168738" cy="33995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3967" y="1613353"/>
            <a:ext cx="5768595" cy="33995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59854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xmlns=""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xmlns="" id="{198D5113-7B1F-AF02-CDA9-5B3AB95BE716}"/>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106" y="1131968"/>
            <a:ext cx="5732585" cy="34664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0747" y="1131968"/>
            <a:ext cx="5711306" cy="34664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633513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57E0E9F0-7414-F19D-A367-C4D70D67BCB3}"/>
              </a:ext>
            </a:extLst>
          </p:cNvPr>
          <p:cNvSpPr>
            <a:spLocks noGrp="1"/>
          </p:cNvSpPr>
          <p:nvPr>
            <p:ph type="title"/>
          </p:nvPr>
        </p:nvSpPr>
        <p:spPr>
          <a:xfrm>
            <a:off x="1180618" y="365125"/>
            <a:ext cx="10173182" cy="1128009"/>
          </a:xfrm>
        </p:spPr>
        <p:txBody>
          <a:bodyPr/>
          <a:lstStyle/>
          <a:p>
            <a:pPr algn="ctr"/>
            <a:r>
              <a:rPr lang="en-US" b="1" dirty="0"/>
              <a:t>Co’s Attainments - DSA</a:t>
            </a:r>
          </a:p>
        </p:txBody>
      </p:sp>
      <p:sp>
        <p:nvSpPr>
          <p:cNvPr id="9" name="Content Placeholder 8">
            <a:extLst>
              <a:ext uri="{FF2B5EF4-FFF2-40B4-BE49-F238E27FC236}">
                <a16:creationId xmlns:a16="http://schemas.microsoft.com/office/drawing/2014/main" xmlns="" id="{6726AE93-69A8-DC85-DA45-05F4D66EF996}"/>
              </a:ext>
            </a:extLst>
          </p:cNvPr>
          <p:cNvSpPr>
            <a:spLocks noGrp="1"/>
          </p:cNvSpPr>
          <p:nvPr>
            <p:ph idx="1"/>
          </p:nvPr>
        </p:nvSpPr>
        <p:spPr/>
        <p:txBody>
          <a:bodyPr>
            <a:normAutofit/>
          </a:bodyPr>
          <a:lstStyle/>
          <a:p>
            <a:r>
              <a:rPr lang="en-US" sz="2200" b="1" dirty="0">
                <a:latin typeface="Times New Roman" panose="02020603050405020304" pitchFamily="18" charset="0"/>
                <a:cs typeface="Times New Roman" panose="02020603050405020304" pitchFamily="18" charset="0"/>
              </a:rPr>
              <a:t>CO1 – Algorithm </a:t>
            </a:r>
            <a:r>
              <a:rPr lang="en-US" sz="2200" b="1" dirty="0" smtClean="0">
                <a:latin typeface="Times New Roman" panose="02020603050405020304" pitchFamily="18" charset="0"/>
                <a:cs typeface="Times New Roman" panose="02020603050405020304" pitchFamily="18" charset="0"/>
              </a:rPr>
              <a:t>Analysis</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	</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Implemented searching (Linear Search) to find ritual entries by mood.</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Implemented sorting (Bubble Sort) to arrange ritual entries based on mood.</a:t>
            </a:r>
          </a:p>
          <a:p>
            <a:r>
              <a:rPr lang="en-US" sz="2200" b="1" dirty="0">
                <a:latin typeface="Times New Roman" panose="02020603050405020304" pitchFamily="18" charset="0"/>
                <a:cs typeface="Times New Roman" panose="02020603050405020304" pitchFamily="18" charset="0"/>
              </a:rPr>
              <a:t>CO2 – Abstract Data Types (</a:t>
            </a:r>
            <a:r>
              <a:rPr lang="en-US" sz="2200" b="1" dirty="0" smtClean="0">
                <a:latin typeface="Times New Roman" panose="02020603050405020304" pitchFamily="18" charset="0"/>
                <a:cs typeface="Times New Roman" panose="02020603050405020304" pitchFamily="18" charset="0"/>
              </a:rPr>
              <a:t>ADTs)</a:t>
            </a:r>
            <a:endParaRPr lang="en-US" sz="2200" dirty="0">
              <a:latin typeface="Times New Roman" panose="02020603050405020304" pitchFamily="18" charset="0"/>
              <a:cs typeface="Times New Roman" panose="02020603050405020304" pitchFamily="18" charset="0"/>
            </a:endParaRPr>
          </a:p>
          <a:p>
            <a:pPr marL="457200" lvl="1" indent="0">
              <a:buNone/>
            </a:pPr>
            <a:r>
              <a:rPr lang="en-US" sz="1800" dirty="0" smtClean="0">
                <a:latin typeface="Times New Roman" panose="02020603050405020304" pitchFamily="18" charset="0"/>
                <a:cs typeface="Times New Roman" panose="02020603050405020304" pitchFamily="18" charset="0"/>
              </a:rPr>
              <a:t>	• Created custom classes </a:t>
            </a:r>
            <a:r>
              <a:rPr lang="en-US" sz="1800" dirty="0" err="1" smtClean="0">
                <a:latin typeface="Times New Roman" panose="02020603050405020304" pitchFamily="18" charset="0"/>
                <a:cs typeface="Times New Roman" panose="02020603050405020304" pitchFamily="18" charset="0"/>
              </a:rPr>
              <a:t>RitualEntry</a:t>
            </a:r>
            <a:r>
              <a:rPr lang="en-US" sz="1800" dirty="0" smtClean="0">
                <a:latin typeface="Times New Roman" panose="02020603050405020304" pitchFamily="18" charset="0"/>
                <a:cs typeface="Times New Roman" panose="02020603050405020304" pitchFamily="18" charset="0"/>
              </a:rPr>
              <a:t> and </a:t>
            </a:r>
            <a:r>
              <a:rPr lang="en-US" sz="1800" dirty="0" err="1" smtClean="0">
                <a:latin typeface="Times New Roman" panose="02020603050405020304" pitchFamily="18" charset="0"/>
                <a:cs typeface="Times New Roman" panose="02020603050405020304" pitchFamily="18" charset="0"/>
              </a:rPr>
              <a:t>VentEntry</a:t>
            </a:r>
            <a:r>
              <a:rPr lang="en-US" sz="1800" dirty="0" smtClean="0">
                <a:latin typeface="Times New Roman" panose="02020603050405020304" pitchFamily="18" charset="0"/>
                <a:cs typeface="Times New Roman" panose="02020603050405020304" pitchFamily="18" charset="0"/>
              </a:rPr>
              <a:t> to store structured data.</a:t>
            </a:r>
            <a:br>
              <a:rPr lang="en-US" sz="1800" dirty="0" smtClean="0">
                <a:latin typeface="Times New Roman" panose="02020603050405020304" pitchFamily="18" charset="0"/>
                <a:cs typeface="Times New Roman" panose="02020603050405020304" pitchFamily="18" charset="0"/>
              </a:rPr>
            </a:br>
            <a:r>
              <a:rPr lang="en-US" sz="1800" dirty="0" smtClean="0">
                <a:latin typeface="Times New Roman" panose="02020603050405020304" pitchFamily="18" charset="0"/>
                <a:cs typeface="Times New Roman" panose="02020603050405020304" pitchFamily="18" charset="0"/>
              </a:rPr>
              <a:t>	• Used </a:t>
            </a:r>
            <a:r>
              <a:rPr lang="en-US" sz="1800" dirty="0" err="1" smtClean="0">
                <a:latin typeface="Times New Roman" panose="02020603050405020304" pitchFamily="18" charset="0"/>
                <a:cs typeface="Times New Roman" panose="02020603050405020304" pitchFamily="18" charset="0"/>
              </a:rPr>
              <a:t>ArrayList</a:t>
            </a:r>
            <a:r>
              <a:rPr lang="en-US" sz="1800" dirty="0" smtClean="0">
                <a:latin typeface="Times New Roman" panose="02020603050405020304" pitchFamily="18" charset="0"/>
                <a:cs typeface="Times New Roman" panose="02020603050405020304" pitchFamily="18" charset="0"/>
              </a:rPr>
              <a:t> for dynamic data storage and management.</a:t>
            </a:r>
            <a:endParaRPr lang="en-US" sz="18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CO3 – Stacks and Queues Applications</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The system models a real-world journaling workflow where entries are stored </a:t>
            </a:r>
            <a:r>
              <a:rPr lang="en-US" sz="2200" dirty="0" smtClean="0">
                <a:latin typeface="Times New Roman" panose="02020603050405020304" pitchFamily="18" charset="0"/>
                <a:cs typeface="Times New Roman" panose="02020603050405020304" pitchFamily="18" charset="0"/>
              </a:rPr>
              <a:t>	sequentially </a:t>
            </a:r>
            <a:r>
              <a:rPr lang="en-US" sz="2200" dirty="0">
                <a:latin typeface="Times New Roman" panose="02020603050405020304" pitchFamily="18" charset="0"/>
                <a:cs typeface="Times New Roman" panose="02020603050405020304" pitchFamily="18" charset="0"/>
              </a:rPr>
              <a:t>and retrieved later.</a:t>
            </a: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xmlns=""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194048-D768-5663-4851-89B00F981F60}"/>
              </a:ext>
            </a:extLst>
          </p:cNvPr>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1174038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B8A9CAF-7EB0-0890-1F26-CA3F8236AA13}"/>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xmlns="" id="{6726AE93-69A8-DC85-DA45-05F4D66EF996}"/>
              </a:ext>
            </a:extLst>
          </p:cNvPr>
          <p:cNvSpPr>
            <a:spLocks noGrp="1"/>
          </p:cNvSpPr>
          <p:nvPr>
            <p:ph idx="1"/>
          </p:nvPr>
        </p:nvSpPr>
        <p:spPr/>
        <p:txBody>
          <a:bodyPr>
            <a:normAutofit/>
          </a:bodyPr>
          <a:lstStyle/>
          <a:p>
            <a:r>
              <a:rPr lang="en-US" sz="2200" b="1" dirty="0">
                <a:latin typeface="Times New Roman" panose="02020603050405020304" pitchFamily="18" charset="0"/>
                <a:cs typeface="Times New Roman" panose="02020603050405020304" pitchFamily="18" charset="0"/>
              </a:rPr>
              <a:t>CO4 – Hash-based Data </a:t>
            </a:r>
            <a:r>
              <a:rPr lang="en-US" sz="2200" b="1" dirty="0" smtClean="0">
                <a:latin typeface="Times New Roman" panose="02020603050405020304" pitchFamily="18" charset="0"/>
                <a:cs typeface="Times New Roman" panose="02020603050405020304" pitchFamily="18" charset="0"/>
              </a:rPr>
              <a:t>Structures</a:t>
            </a:r>
            <a:endParaRPr lang="en-US" sz="2200" dirty="0">
              <a:latin typeface="Times New Roman" panose="02020603050405020304" pitchFamily="18" charset="0"/>
              <a:cs typeface="Times New Roman" panose="02020603050405020304" pitchFamily="18" charset="0"/>
            </a:endParaRPr>
          </a:p>
          <a:p>
            <a:pPr marL="0" indent="0">
              <a:buNone/>
            </a:pP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Implemented </a:t>
            </a:r>
            <a:r>
              <a:rPr lang="en-US" sz="2200" dirty="0" err="1">
                <a:latin typeface="Times New Roman" panose="02020603050405020304" pitchFamily="18" charset="0"/>
                <a:cs typeface="Times New Roman" panose="02020603050405020304" pitchFamily="18" charset="0"/>
              </a:rPr>
              <a:t>HashMap</a:t>
            </a:r>
            <a:r>
              <a:rPr lang="en-US" sz="2200" dirty="0">
                <a:latin typeface="Times New Roman" panose="02020603050405020304" pitchFamily="18" charset="0"/>
                <a:cs typeface="Times New Roman" panose="02020603050405020304" pitchFamily="18" charset="0"/>
              </a:rPr>
              <a:t> to store ritual entries using date as the </a:t>
            </a:r>
            <a:r>
              <a:rPr lang="en-US" sz="2200" dirty="0" smtClean="0">
                <a:latin typeface="Times New Roman" panose="02020603050405020304" pitchFamily="18" charset="0"/>
                <a:cs typeface="Times New Roman" panose="02020603050405020304" pitchFamily="18" charset="0"/>
              </a:rPr>
              <a:t>key &amp; enables fast     	lookup </a:t>
            </a:r>
            <a:r>
              <a:rPr lang="en-US" sz="2200" dirty="0">
                <a:latin typeface="Times New Roman" panose="02020603050405020304" pitchFamily="18" charset="0"/>
                <a:cs typeface="Times New Roman" panose="02020603050405020304" pitchFamily="18" charset="0"/>
              </a:rPr>
              <a:t>and efficient data management.</a:t>
            </a:r>
            <a:r>
              <a:rPr lang="en-US" sz="2200" dirty="0" smtClean="0">
                <a:latin typeface="Times New Roman" panose="02020603050405020304" pitchFamily="18" charset="0"/>
                <a:cs typeface="Times New Roman" panose="02020603050405020304" pitchFamily="18" charset="0"/>
              </a:rPr>
              <a:t> </a:t>
            </a:r>
          </a:p>
          <a:p>
            <a:pPr marL="0" indent="0">
              <a:buNone/>
            </a:pPr>
            <a:endParaRPr lang="en-US" sz="2200" dirty="0" smtClean="0">
              <a:latin typeface="Times New Roman" panose="02020603050405020304" pitchFamily="18" charset="0"/>
              <a:cs typeface="Times New Roman" panose="02020603050405020304" pitchFamily="18" charset="0"/>
            </a:endParaRPr>
          </a:p>
          <a:p>
            <a:r>
              <a:rPr lang="en-US" sz="2200" b="1" dirty="0" smtClean="0">
                <a:latin typeface="Times New Roman" panose="02020603050405020304" pitchFamily="18" charset="0"/>
                <a:cs typeface="Times New Roman" panose="02020603050405020304" pitchFamily="18" charset="0"/>
              </a:rPr>
              <a:t>CO5 </a:t>
            </a:r>
            <a:r>
              <a:rPr lang="en-US" sz="2200" b="1" dirty="0">
                <a:latin typeface="Times New Roman" panose="02020603050405020304" pitchFamily="18" charset="0"/>
                <a:cs typeface="Times New Roman" panose="02020603050405020304" pitchFamily="18" charset="0"/>
              </a:rPr>
              <a:t>– Application of Linear Data Structures</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Built a practical journaling application using </a:t>
            </a:r>
            <a:r>
              <a:rPr lang="en-US" sz="2200" dirty="0" err="1">
                <a:latin typeface="Times New Roman" panose="02020603050405020304" pitchFamily="18" charset="0"/>
                <a:cs typeface="Times New Roman" panose="02020603050405020304" pitchFamily="18" charset="0"/>
              </a:rPr>
              <a:t>ArrayList</a:t>
            </a:r>
            <a:r>
              <a:rPr lang="en-US" sz="2200" dirty="0">
                <a:latin typeface="Times New Roman" panose="02020603050405020304" pitchFamily="18" charset="0"/>
                <a:cs typeface="Times New Roman" panose="02020603050405020304" pitchFamily="18" charset="0"/>
              </a:rPr>
              <a:t>, searching, and sorting </a:t>
            </a:r>
            <a:r>
              <a:rPr lang="en-US" sz="2200" dirty="0" smtClean="0">
                <a:latin typeface="Times New Roman" panose="02020603050405020304" pitchFamily="18" charset="0"/>
                <a:cs typeface="Times New Roman" panose="02020603050405020304" pitchFamily="18" charset="0"/>
              </a:rPr>
              <a:t>	operations</a:t>
            </a:r>
            <a:r>
              <a:rPr lang="en-US" sz="2200" dirty="0">
                <a:latin typeface="Times New Roman" panose="02020603050405020304" pitchFamily="18" charset="0"/>
                <a:cs typeface="Times New Roman" panose="02020603050405020304" pitchFamily="18" charset="0"/>
              </a:rPr>
              <a:t>.</a:t>
            </a:r>
          </a:p>
          <a:p>
            <a:r>
              <a:rPr lang="en-US" sz="2200" b="1" dirty="0">
                <a:latin typeface="Times New Roman" panose="02020603050405020304" pitchFamily="18" charset="0"/>
                <a:cs typeface="Times New Roman" panose="02020603050405020304" pitchFamily="18" charset="0"/>
              </a:rPr>
              <a:t>CO6 – Program Development using Data Structures</a:t>
            </a:r>
            <a:r>
              <a:rPr lang="en-US" sz="2200" dirty="0">
                <a:latin typeface="Times New Roman" panose="02020603050405020304" pitchFamily="18" charset="0"/>
                <a:cs typeface="Times New Roman" panose="02020603050405020304" pitchFamily="18" charset="0"/>
              </a:rPr>
              <a:t/>
            </a:r>
            <a:br>
              <a:rPr lang="en-US" sz="2200" dirty="0">
                <a:latin typeface="Times New Roman" panose="02020603050405020304" pitchFamily="18" charset="0"/>
                <a:cs typeface="Times New Roman" panose="02020603050405020304" pitchFamily="18" charset="0"/>
              </a:rPr>
            </a:br>
            <a:r>
              <a:rPr lang="en-US" sz="2200" dirty="0" smtClean="0">
                <a:latin typeface="Times New Roman" panose="02020603050405020304" pitchFamily="18" charset="0"/>
                <a:cs typeface="Times New Roman" panose="02020603050405020304" pitchFamily="18" charset="0"/>
              </a:rPr>
              <a:t>	• </a:t>
            </a:r>
            <a:r>
              <a:rPr lang="en-US" sz="2200" dirty="0">
                <a:latin typeface="Times New Roman" panose="02020603050405020304" pitchFamily="18" charset="0"/>
                <a:cs typeface="Times New Roman" panose="02020603050405020304" pitchFamily="18" charset="0"/>
              </a:rPr>
              <a:t>Developed a menu-driven Java application demonstrating practical use of data </a:t>
            </a:r>
            <a:r>
              <a:rPr lang="en-US" sz="2200" dirty="0" smtClean="0">
                <a:latin typeface="Times New Roman" panose="02020603050405020304" pitchFamily="18" charset="0"/>
                <a:cs typeface="Times New Roman" panose="02020603050405020304" pitchFamily="18" charset="0"/>
              </a:rPr>
              <a:t>	structures </a:t>
            </a:r>
            <a:r>
              <a:rPr lang="en-US" sz="2200" dirty="0">
                <a:latin typeface="Times New Roman" panose="02020603050405020304" pitchFamily="18" charset="0"/>
                <a:cs typeface="Times New Roman" panose="02020603050405020304" pitchFamily="18" charset="0"/>
              </a:rPr>
              <a:t>and algorithms.</a:t>
            </a:r>
          </a:p>
        </p:txBody>
      </p:sp>
      <p:sp>
        <p:nvSpPr>
          <p:cNvPr id="5" name="Date Placeholder 4">
            <a:extLst>
              <a:ext uri="{FF2B5EF4-FFF2-40B4-BE49-F238E27FC236}">
                <a16:creationId xmlns:a16="http://schemas.microsoft.com/office/drawing/2014/main" xmlns=""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194048-D768-5663-4851-89B00F981F60}"/>
              </a:ext>
            </a:extLst>
          </p:cNvPr>
          <p:cNvSpPr>
            <a:spLocks noGrp="1"/>
          </p:cNvSpPr>
          <p:nvPr>
            <p:ph type="sldNum" sz="quarter" idx="12"/>
          </p:nvPr>
        </p:nvSpPr>
        <p:spPr/>
        <p:txBody>
          <a:bodyPr/>
          <a:lstStyle/>
          <a:p>
            <a:fld id="{B961B71F-4B40-8942-BB88-E0F5C0B46E10}" type="slidenum">
              <a:rPr lang="en-US" smtClean="0"/>
              <a:t>15</a:t>
            </a:fld>
            <a:endParaRPr lang="en-US"/>
          </a:p>
        </p:txBody>
      </p:sp>
    </p:spTree>
    <p:extLst>
      <p:ext uri="{BB962C8B-B14F-4D97-AF65-F5344CB8AC3E}">
        <p14:creationId xmlns:p14="http://schemas.microsoft.com/office/powerpoint/2010/main" val="344365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323D68-D41B-9825-3931-B79590C795F8}"/>
              </a:ext>
            </a:extLst>
          </p:cNvPr>
          <p:cNvSpPr>
            <a:spLocks noGrp="1"/>
          </p:cNvSpPr>
          <p:nvPr>
            <p:ph type="title"/>
          </p:nvPr>
        </p:nvSpPr>
        <p:spPr/>
        <p:txBody>
          <a:bodyPr/>
          <a:lstStyle/>
          <a:p>
            <a:r>
              <a:rPr lang="en-US" dirty="0"/>
              <a:t>Screenshots </a:t>
            </a:r>
            <a:r>
              <a:rPr lang="en-US" dirty="0" smtClean="0"/>
              <a:t>for DSA</a:t>
            </a:r>
            <a:endParaRPr lang="en-US" dirty="0"/>
          </a:p>
        </p:txBody>
      </p:sp>
      <p:sp>
        <p:nvSpPr>
          <p:cNvPr id="4" name="Date Placeholder 3">
            <a:extLst>
              <a:ext uri="{FF2B5EF4-FFF2-40B4-BE49-F238E27FC236}">
                <a16:creationId xmlns:a16="http://schemas.microsoft.com/office/drawing/2014/main" xmlns=""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xmlns=""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xmlns="" id="{198D5113-7B1F-AF02-CDA9-5B3AB95BE716}"/>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9712" y="1657816"/>
            <a:ext cx="3640010" cy="3066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3992" y="1657815"/>
            <a:ext cx="6173787" cy="2219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1953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xmlns=""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xmlns="" id="{198D5113-7B1F-AF02-CDA9-5B3AB95BE716}"/>
              </a:ext>
            </a:extLst>
          </p:cNvPr>
          <p:cNvSpPr>
            <a:spLocks noGrp="1"/>
          </p:cNvSpPr>
          <p:nvPr>
            <p:ph type="sldNum" sz="quarter" idx="12"/>
          </p:nvPr>
        </p:nvSpPr>
        <p:spPr/>
        <p:txBody>
          <a:bodyPr/>
          <a:lstStyle/>
          <a:p>
            <a:fld id="{B961B71F-4B40-8942-BB88-E0F5C0B46E10}" type="slidenum">
              <a:rPr lang="en-US" smtClean="0"/>
              <a:t>17</a:t>
            </a:fld>
            <a:endParaRPr lang="en-US"/>
          </a:p>
        </p:txBody>
      </p:sp>
      <p:pic>
        <p:nvPicPr>
          <p:cNvPr id="9"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7859" y="1561464"/>
            <a:ext cx="4205510" cy="3488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3673" y="2071688"/>
            <a:ext cx="6297677" cy="128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67915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xmlns="" id="{7E8F526A-5F54-0308-7336-A6E081606439}"/>
              </a:ext>
            </a:extLst>
          </p:cNvPr>
          <p:cNvSpPr>
            <a:spLocks noGrp="1"/>
          </p:cNvSpPr>
          <p:nvPr>
            <p:ph type="title"/>
          </p:nvPr>
        </p:nvSpPr>
        <p:spPr>
          <a:xfrm>
            <a:off x="1180618" y="365125"/>
            <a:ext cx="10173182" cy="1128009"/>
          </a:xfrm>
        </p:spPr>
        <p:txBody>
          <a:bodyPr/>
          <a:lstStyle/>
          <a:p>
            <a:pPr algn="ctr"/>
            <a:r>
              <a:rPr lang="en-US" b="1" dirty="0"/>
              <a:t>Conclusion</a:t>
            </a:r>
          </a:p>
        </p:txBody>
      </p:sp>
      <p:sp>
        <p:nvSpPr>
          <p:cNvPr id="9" name="Content Placeholder 8">
            <a:extLst>
              <a:ext uri="{FF2B5EF4-FFF2-40B4-BE49-F238E27FC236}">
                <a16:creationId xmlns:a16="http://schemas.microsoft.com/office/drawing/2014/main" xmlns="" id="{956E9376-CB4B-895B-7B5C-D2F5AAED7494}"/>
              </a:ext>
            </a:extLst>
          </p:cNvPr>
          <p:cNvSpPr>
            <a:spLocks noGrp="1"/>
          </p:cNvSpPr>
          <p:nvPr>
            <p:ph idx="1"/>
          </p:nvPr>
        </p:nvSpPr>
        <p:spPr/>
        <p:txBody>
          <a:bodyPr>
            <a:normAutofit/>
          </a:bodyPr>
          <a:lstStyle/>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Unmute </a:t>
            </a:r>
            <a:r>
              <a:rPr lang="en-US" sz="2200" dirty="0" smtClean="0">
                <a:latin typeface="Times New Roman" panose="02020603050405020304" pitchFamily="18" charset="0"/>
                <a:cs typeface="Times New Roman" panose="02020603050405020304" pitchFamily="18" charset="0"/>
              </a:rPr>
              <a:t>provides </a:t>
            </a:r>
            <a:r>
              <a:rPr lang="en-US" sz="2200" dirty="0">
                <a:latin typeface="Times New Roman" panose="02020603050405020304" pitchFamily="18" charset="0"/>
                <a:cs typeface="Times New Roman" panose="02020603050405020304" pitchFamily="18" charset="0"/>
              </a:rPr>
              <a:t>a simple yet effective platform for users to record their thoughts, emotions, and weekly reflections. By combining structured reflection with free expression, the system encourages users to better understand their emotional patterns and personal experiences.</a:t>
            </a:r>
          </a:p>
          <a:p>
            <a:r>
              <a:rPr lang="en-US" sz="2200" dirty="0">
                <a:latin typeface="Times New Roman" panose="02020603050405020304" pitchFamily="18" charset="0"/>
                <a:cs typeface="Times New Roman" panose="02020603050405020304" pitchFamily="18" charset="0"/>
              </a:rPr>
              <a:t>The project successfully demonstrates the implementation of </a:t>
            </a:r>
            <a:r>
              <a:rPr lang="en-US" sz="2200" b="1" dirty="0">
                <a:latin typeface="Times New Roman" panose="02020603050405020304" pitchFamily="18" charset="0"/>
                <a:cs typeface="Times New Roman" panose="02020603050405020304" pitchFamily="18" charset="0"/>
              </a:rPr>
              <a:t>Java programming concepts such as Object-Oriented Programming, data structures, searching, and sorting algorithms</a:t>
            </a:r>
            <a:r>
              <a:rPr lang="en-US" sz="2200" dirty="0">
                <a:latin typeface="Times New Roman" panose="02020603050405020304" pitchFamily="18" charset="0"/>
                <a:cs typeface="Times New Roman" panose="02020603050405020304" pitchFamily="18" charset="0"/>
              </a:rPr>
              <a:t>. It also highlights how technology can be used to create meaningful tools that support self-reflection and emotional expression.</a:t>
            </a:r>
          </a:p>
          <a:p>
            <a:r>
              <a:rPr lang="en-US" sz="2200" dirty="0">
                <a:latin typeface="Times New Roman" panose="02020603050405020304" pitchFamily="18" charset="0"/>
                <a:cs typeface="Times New Roman" panose="02020603050405020304" pitchFamily="18" charset="0"/>
              </a:rPr>
              <a:t>With further enhancements such as </a:t>
            </a:r>
            <a:r>
              <a:rPr lang="en-US" sz="2200" b="1" dirty="0">
                <a:latin typeface="Times New Roman" panose="02020603050405020304" pitchFamily="18" charset="0"/>
                <a:cs typeface="Times New Roman" panose="02020603050405020304" pitchFamily="18" charset="0"/>
              </a:rPr>
              <a:t>data storage, graphical interface, and mood analysis</a:t>
            </a:r>
            <a:r>
              <a:rPr lang="en-US" sz="2200" dirty="0">
                <a:latin typeface="Times New Roman" panose="02020603050405020304" pitchFamily="18" charset="0"/>
                <a:cs typeface="Times New Roman" panose="02020603050405020304" pitchFamily="18" charset="0"/>
              </a:rPr>
              <a:t>, the system could be developed into a more advanced personal journaling application.</a:t>
            </a:r>
          </a:p>
          <a:p>
            <a:pPr marL="0" indent="0">
              <a:buNone/>
            </a:pPr>
            <a:endParaRPr lang="en-US" dirty="0"/>
          </a:p>
        </p:txBody>
      </p:sp>
      <p:sp>
        <p:nvSpPr>
          <p:cNvPr id="5" name="Date Placeholder 4">
            <a:extLst>
              <a:ext uri="{FF2B5EF4-FFF2-40B4-BE49-F238E27FC236}">
                <a16:creationId xmlns:a16="http://schemas.microsoft.com/office/drawing/2014/main" xmlns=""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xmlns=""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36E4E02D-0287-0F0D-A891-AE869E4F0992}"/>
              </a:ext>
            </a:extLst>
          </p:cNvPr>
          <p:cNvSpPr>
            <a:spLocks noGrp="1"/>
          </p:cNvSpPr>
          <p:nvPr>
            <p:ph type="sldNum" sz="quarter" idx="12"/>
          </p:nvPr>
        </p:nvSpPr>
        <p:spPr/>
        <p:txBody>
          <a:bodyPr/>
          <a:lstStyle/>
          <a:p>
            <a:fld id="{B961B71F-4B40-8942-BB88-E0F5C0B46E10}" type="slidenum">
              <a:rPr lang="en-US" smtClean="0"/>
              <a:t>18</a:t>
            </a:fld>
            <a:endParaRPr lang="en-US"/>
          </a:p>
        </p:txBody>
      </p:sp>
    </p:spTree>
    <p:extLst>
      <p:ext uri="{BB962C8B-B14F-4D97-AF65-F5344CB8AC3E}">
        <p14:creationId xmlns:p14="http://schemas.microsoft.com/office/powerpoint/2010/main" val="2858912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7848258-F0F3-1EE4-1AB3-DB04AD69EB8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xmlns=""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xmlns="" id="{C3E9B8A7-6131-D012-7DA4-A9F36B2B1525}"/>
              </a:ext>
            </a:extLst>
          </p:cNvPr>
          <p:cNvSpPr>
            <a:spLocks noGrp="1"/>
          </p:cNvSpPr>
          <p:nvPr>
            <p:ph type="sldNum" sz="quarter" idx="12"/>
          </p:nvPr>
        </p:nvSpPr>
        <p:spPr/>
        <p:txBody>
          <a:bodyPr/>
          <a:lstStyle/>
          <a:p>
            <a:fld id="{B961B71F-4B40-8942-BB88-E0F5C0B46E10}" type="slidenum">
              <a:rPr lang="en-US" smtClean="0"/>
              <a:t>19</a:t>
            </a:fld>
            <a:endParaRPr lang="en-US"/>
          </a:p>
        </p:txBody>
      </p:sp>
      <p:sp>
        <p:nvSpPr>
          <p:cNvPr id="7" name="Title 7">
            <a:extLst>
              <a:ext uri="{FF2B5EF4-FFF2-40B4-BE49-F238E27FC236}">
                <a16:creationId xmlns:a16="http://schemas.microsoft.com/office/drawing/2014/main" xmlns="" id="{7E8F526A-5F54-0308-7336-A6E081606439}"/>
              </a:ext>
            </a:extLst>
          </p:cNvPr>
          <p:cNvSpPr txBox="1">
            <a:spLocks/>
          </p:cNvSpPr>
          <p:nvPr/>
        </p:nvSpPr>
        <p:spPr>
          <a:xfrm>
            <a:off x="1180618" y="365125"/>
            <a:ext cx="10173182" cy="11280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smtClean="0"/>
              <a:t>Geo-Tag Photos</a:t>
            </a:r>
            <a:endParaRPr lang="en-US" b="1" dirty="0"/>
          </a:p>
        </p:txBody>
      </p:sp>
      <p:pic>
        <p:nvPicPr>
          <p:cNvPr id="3076" name="Picture 4" descr="C:\Users\srini\OneDrive\Desktop\Unmute\EXPO.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683" y="1493134"/>
            <a:ext cx="5433162" cy="4074871"/>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C:\Users\srini\OneDrive\Desktop\Unmute\EXPO_PROJECT.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9858" y="1467518"/>
            <a:ext cx="3105358" cy="4126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7471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xmlns=""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xmlns=""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xmlns=""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xmlns="" id="{5F827BAA-7E22-F268-D9DC-5E17D9155237}"/>
              </a:ext>
            </a:extLst>
          </p:cNvPr>
          <p:cNvSpPr>
            <a:spLocks noGrp="1"/>
          </p:cNvSpPr>
          <p:nvPr>
            <p:ph type="sldNum" sz="quarter" idx="12"/>
          </p:nvPr>
        </p:nvSpPr>
        <p:spPr/>
        <p:txBody>
          <a:bodyPr/>
          <a:lstStyle/>
          <a:p>
            <a:fld id="{B961B71F-4B40-8942-BB88-E0F5C0B46E10}" type="slidenum">
              <a:rPr lang="en-US" smtClean="0"/>
              <a:t>20</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4277</TotalTime>
  <Words>688</Words>
  <Application>Microsoft Office PowerPoint</Application>
  <PresentationFormat>Custom</PresentationFormat>
  <Paragraphs>153</Paragraphs>
  <Slides>20</Slides>
  <Notes>0</Notes>
  <HiddenSlides>0</HiddenSlides>
  <MMClips>0</MMClips>
  <ScaleCrop>false</ScaleCrop>
  <HeadingPairs>
    <vt:vector size="4" baseType="variant">
      <vt:variant>
        <vt:lpstr>Theme</vt:lpstr>
      </vt:variant>
      <vt:variant>
        <vt:i4>2</vt:i4>
      </vt:variant>
      <vt:variant>
        <vt:lpstr>Slide Titles</vt:lpstr>
      </vt:variant>
      <vt:variant>
        <vt:i4>20</vt:i4>
      </vt:variant>
    </vt:vector>
  </HeadingPairs>
  <TitlesOfParts>
    <vt:vector size="22" baseType="lpstr">
      <vt:lpstr>Office Theme</vt:lpstr>
      <vt:lpstr>Custom Design</vt:lpstr>
      <vt:lpstr>UNMUTE: A WEEKLY REFLECTION APPLICATION</vt:lpstr>
      <vt:lpstr>OUTLINE</vt:lpstr>
      <vt:lpstr>Abstract</vt:lpstr>
      <vt:lpstr>Existing System </vt:lpstr>
      <vt:lpstr>Proposed System</vt:lpstr>
      <vt:lpstr>System Architecture</vt:lpstr>
      <vt:lpstr>Project Modules</vt:lpstr>
      <vt:lpstr>PowerPoint Presentation</vt:lpstr>
      <vt:lpstr>Objectives</vt:lpstr>
      <vt:lpstr>Co’s Attainments - FWD</vt:lpstr>
      <vt:lpstr>PowerPoint Presentation</vt:lpstr>
      <vt:lpstr>Screenshots for FWD </vt:lpstr>
      <vt:lpstr>PowerPoint Presentation</vt:lpstr>
      <vt:lpstr>Co’s Attainments - DSA</vt:lpstr>
      <vt:lpstr>PowerPoint Presentation</vt:lpstr>
      <vt:lpstr>Screenshots for DSA</vt:lpstr>
      <vt:lpstr>PowerPoint Presentation</vt:lpstr>
      <vt:lpstr>Conclusion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Sri Nithya Kamal</cp:lastModifiedBy>
  <cp:revision>75</cp:revision>
  <dcterms:created xsi:type="dcterms:W3CDTF">2022-05-20T10:20:31Z</dcterms:created>
  <dcterms:modified xsi:type="dcterms:W3CDTF">2026-03-12T05:50:59Z</dcterms:modified>
</cp:coreProperties>
</file>